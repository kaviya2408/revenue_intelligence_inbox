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400" b="1" dirty="0">
                <a:solidFill>
                  <a:srgbClr val="14181F"/>
                </a:solidFill>
                <a:latin typeface="Calibri" pitchFamily="34" charset="0"/>
                <a:ea typeface="Calibri" pitchFamily="34" charset="-122"/>
                <a:cs typeface="Calibri" pitchFamily="34" charset="-120"/>
              </a:rPr>
              <a:t>What needs attention, and what cannot be judged</a:t>
            </a:r>
            <a:endParaRPr lang="en-US" sz="2400" dirty="0"/>
          </a:p>
        </p:txBody>
      </p:sp>
      <p:sp>
        <p:nvSpPr>
          <p:cNvPr id="3" name="Text 1"/>
          <p:cNvSpPr txBox="1"/>
          <p:nvPr/>
        </p:nvSpPr>
        <p:spPr>
          <a:xfrm>
            <a:off x="7498080" y="4800600"/>
            <a:ext cx="1188720" cy="228600"/>
          </a:xfrm>
          <a:prstGeom prst="rect">
            <a:avLst/>
          </a:prstGeom>
          <a:noFill/>
          <a:ln/>
        </p:spPr>
        <p:txBody>
          <a:bodyPr wrap="square" lIns="0" tIns="0" rIns="0" bIns="0" rtlCol="0" anchor="ctr"/>
          <a:lstStyle/>
          <a:p>
            <a:pPr algn="r" indent="0" marL="0">
              <a:buNone/>
            </a:pPr>
            <a:r>
              <a:rPr lang="en-US" sz="900" dirty="0">
                <a:solidFill>
                  <a:srgbClr val="5C6675"/>
                </a:solidFill>
                <a:latin typeface="Calibri" pitchFamily="34" charset="0"/>
                <a:ea typeface="Calibri" pitchFamily="34" charset="-122"/>
                <a:cs typeface="Calibri" pitchFamily="34" charset="-120"/>
              </a:rPr>
              <a:t>SalesDesk · 1/5</a:t>
            </a:r>
            <a:endParaRPr lang="en-US" sz="900" dirty="0"/>
          </a:p>
        </p:txBody>
      </p:sp>
      <p:pic>
        <p:nvPicPr>
          <p:cNvPr id="4" name="Image 0" descr="dash.png">    </p:cNvPr>
          <p:cNvPicPr>
            <a:picLocks noChangeAspect="1"/>
          </p:cNvPicPr>
          <p:nvPr/>
        </p:nvPicPr>
        <p:blipFill>
          <a:blip r:embed="rId1"/>
          <a:srcRect l="0" r="0" t="0" b="0"/>
          <a:stretch/>
        </p:blipFill>
        <p:spPr>
          <a:xfrm>
            <a:off x="457200" y="1051560"/>
            <a:ext cx="5029200" cy="2990088"/>
          </a:xfrm>
          <a:prstGeom prst="rect">
            <a:avLst/>
          </a:prstGeom>
        </p:spPr>
      </p:pic>
      <p:sp>
        <p:nvSpPr>
          <p:cNvPr id="5" name="Shape 2"/>
          <p:cNvSpPr/>
          <p:nvPr/>
        </p:nvSpPr>
        <p:spPr>
          <a:xfrm>
            <a:off x="5760720" y="1051560"/>
            <a:ext cx="2926080" cy="658368"/>
          </a:xfrm>
          <a:prstGeom prst="roundRect">
            <a:avLst>
              <a:gd name="adj" fmla="val 11111"/>
            </a:avLst>
          </a:prstGeom>
          <a:solidFill>
            <a:srgbClr val="F3F5F9"/>
          </a:solidFill>
          <a:ln w="9525">
            <a:solidFill>
              <a:srgbClr val="DFE3EA"/>
            </a:solidFill>
            <a:prstDash val="solid"/>
          </a:ln>
        </p:spPr>
      </p:sp>
      <p:sp>
        <p:nvSpPr>
          <p:cNvPr id="6" name="Text 3"/>
          <p:cNvSpPr txBox="1"/>
          <p:nvPr/>
        </p:nvSpPr>
        <p:spPr>
          <a:xfrm>
            <a:off x="5897880" y="1124712"/>
            <a:ext cx="1143000" cy="512064"/>
          </a:xfrm>
          <a:prstGeom prst="rect">
            <a:avLst/>
          </a:prstGeom>
          <a:noFill/>
          <a:ln/>
        </p:spPr>
        <p:txBody>
          <a:bodyPr wrap="square" lIns="0" tIns="0" rIns="0" bIns="0" rtlCol="0" anchor="ctr"/>
          <a:lstStyle/>
          <a:p>
            <a:pPr indent="0" marL="0">
              <a:buNone/>
            </a:pPr>
            <a:r>
              <a:rPr lang="en-US" sz="2000" b="1" dirty="0">
                <a:solidFill>
                  <a:srgbClr val="2457D6"/>
                </a:solidFill>
                <a:latin typeface="Calibri" pitchFamily="34" charset="0"/>
                <a:ea typeface="Calibri" pitchFamily="34" charset="-122"/>
                <a:cs typeface="Calibri" pitchFamily="34" charset="-120"/>
              </a:rPr>
              <a:t>44</a:t>
            </a:r>
            <a:endParaRPr lang="en-US" sz="2000" dirty="0"/>
          </a:p>
        </p:txBody>
      </p:sp>
      <p:sp>
        <p:nvSpPr>
          <p:cNvPr id="7" name="Text 4"/>
          <p:cNvSpPr txBox="1"/>
          <p:nvPr/>
        </p:nvSpPr>
        <p:spPr>
          <a:xfrm>
            <a:off x="7040880" y="1124712"/>
            <a:ext cx="1554480" cy="512064"/>
          </a:xfrm>
          <a:prstGeom prst="rect">
            <a:avLst/>
          </a:prstGeom>
          <a:noFill/>
          <a:ln/>
        </p:spPr>
        <p:txBody>
          <a:bodyPr wrap="square" lIns="0" tIns="0" rIns="0" bIns="0" rtlCol="0" anchor="ctr"/>
          <a:lstStyle/>
          <a:p>
            <a:pPr indent="0" marL="0">
              <a:buNone/>
            </a:pPr>
            <a:r>
              <a:rPr lang="en-US" sz="1100" dirty="0">
                <a:solidFill>
                  <a:srgbClr val="5C6675"/>
                </a:solidFill>
                <a:latin typeface="Calibri" pitchFamily="34" charset="0"/>
                <a:ea typeface="Calibri" pitchFamily="34" charset="-122"/>
                <a:cs typeface="Calibri" pitchFamily="34" charset="-120"/>
              </a:rPr>
              <a:t>records: 30 calls, 14 meetings</a:t>
            </a:r>
            <a:endParaRPr lang="en-US" sz="1100" dirty="0"/>
          </a:p>
        </p:txBody>
      </p:sp>
      <p:sp>
        <p:nvSpPr>
          <p:cNvPr id="8" name="Shape 5"/>
          <p:cNvSpPr/>
          <p:nvPr/>
        </p:nvSpPr>
        <p:spPr>
          <a:xfrm>
            <a:off x="5760720" y="1819656"/>
            <a:ext cx="2926080" cy="658368"/>
          </a:xfrm>
          <a:prstGeom prst="roundRect">
            <a:avLst>
              <a:gd name="adj" fmla="val 11111"/>
            </a:avLst>
          </a:prstGeom>
          <a:solidFill>
            <a:srgbClr val="F3F5F9"/>
          </a:solidFill>
          <a:ln w="9525">
            <a:solidFill>
              <a:srgbClr val="DFE3EA"/>
            </a:solidFill>
            <a:prstDash val="solid"/>
          </a:ln>
        </p:spPr>
      </p:sp>
      <p:sp>
        <p:nvSpPr>
          <p:cNvPr id="9" name="Text 6"/>
          <p:cNvSpPr txBox="1"/>
          <p:nvPr/>
        </p:nvSpPr>
        <p:spPr>
          <a:xfrm>
            <a:off x="5897880" y="1892808"/>
            <a:ext cx="1143000" cy="512064"/>
          </a:xfrm>
          <a:prstGeom prst="rect">
            <a:avLst/>
          </a:prstGeom>
          <a:noFill/>
          <a:ln/>
        </p:spPr>
        <p:txBody>
          <a:bodyPr wrap="square" lIns="0" tIns="0" rIns="0" bIns="0" rtlCol="0" anchor="ctr"/>
          <a:lstStyle/>
          <a:p>
            <a:pPr indent="0" marL="0">
              <a:buNone/>
            </a:pPr>
            <a:r>
              <a:rPr lang="en-US" sz="2000" b="1" dirty="0">
                <a:solidFill>
                  <a:srgbClr val="2457D6"/>
                </a:solidFill>
                <a:latin typeface="Calibri" pitchFamily="34" charset="0"/>
                <a:ea typeface="Calibri" pitchFamily="34" charset="-122"/>
                <a:cs typeface="Calibri" pitchFamily="34" charset="-120"/>
              </a:rPr>
              <a:t>18 / 44</a:t>
            </a:r>
            <a:endParaRPr lang="en-US" sz="2000" dirty="0"/>
          </a:p>
        </p:txBody>
      </p:sp>
      <p:sp>
        <p:nvSpPr>
          <p:cNvPr id="10" name="Text 7"/>
          <p:cNvSpPr txBox="1"/>
          <p:nvPr/>
        </p:nvSpPr>
        <p:spPr>
          <a:xfrm>
            <a:off x="7040880" y="1892808"/>
            <a:ext cx="1554480" cy="512064"/>
          </a:xfrm>
          <a:prstGeom prst="rect">
            <a:avLst/>
          </a:prstGeom>
          <a:noFill/>
          <a:ln/>
        </p:spPr>
        <p:txBody>
          <a:bodyPr wrap="square" lIns="0" tIns="0" rIns="0" bIns="0" rtlCol="0" anchor="ctr"/>
          <a:lstStyle/>
          <a:p>
            <a:pPr indent="0" marL="0">
              <a:buNone/>
            </a:pPr>
            <a:r>
              <a:rPr lang="en-US" sz="1100" dirty="0">
                <a:solidFill>
                  <a:srgbClr val="5C6675"/>
                </a:solidFill>
                <a:latin typeface="Calibri" pitchFamily="34" charset="0"/>
                <a:ea typeface="Calibri" pitchFamily="34" charset="-122"/>
                <a:cs typeface="Calibri" pitchFamily="34" charset="-120"/>
              </a:rPr>
              <a:t>usable text (40.9%)</a:t>
            </a:r>
            <a:endParaRPr lang="en-US" sz="1100" dirty="0"/>
          </a:p>
        </p:txBody>
      </p:sp>
      <p:sp>
        <p:nvSpPr>
          <p:cNvPr id="11" name="Shape 8"/>
          <p:cNvSpPr/>
          <p:nvPr/>
        </p:nvSpPr>
        <p:spPr>
          <a:xfrm>
            <a:off x="5760720" y="2587752"/>
            <a:ext cx="2926080" cy="658368"/>
          </a:xfrm>
          <a:prstGeom prst="roundRect">
            <a:avLst>
              <a:gd name="adj" fmla="val 11111"/>
            </a:avLst>
          </a:prstGeom>
          <a:solidFill>
            <a:srgbClr val="F3F5F9"/>
          </a:solidFill>
          <a:ln w="9525">
            <a:solidFill>
              <a:srgbClr val="DFE3EA"/>
            </a:solidFill>
            <a:prstDash val="solid"/>
          </a:ln>
        </p:spPr>
      </p:sp>
      <p:sp>
        <p:nvSpPr>
          <p:cNvPr id="12" name="Text 9"/>
          <p:cNvSpPr txBox="1"/>
          <p:nvPr/>
        </p:nvSpPr>
        <p:spPr>
          <a:xfrm>
            <a:off x="5897880" y="2660904"/>
            <a:ext cx="1143000" cy="512064"/>
          </a:xfrm>
          <a:prstGeom prst="rect">
            <a:avLst/>
          </a:prstGeom>
          <a:noFill/>
          <a:ln/>
        </p:spPr>
        <p:txBody>
          <a:bodyPr wrap="square" lIns="0" tIns="0" rIns="0" bIns="0" rtlCol="0" anchor="ctr"/>
          <a:lstStyle/>
          <a:p>
            <a:pPr indent="0" marL="0">
              <a:buNone/>
            </a:pPr>
            <a:r>
              <a:rPr lang="en-US" sz="2000" b="1" dirty="0">
                <a:solidFill>
                  <a:srgbClr val="2457D6"/>
                </a:solidFill>
                <a:latin typeface="Calibri" pitchFamily="34" charset="0"/>
                <a:ea typeface="Calibri" pitchFamily="34" charset="-122"/>
                <a:cs typeface="Calibri" pitchFamily="34" charset="-120"/>
              </a:rPr>
              <a:t>11 / 30</a:t>
            </a:r>
            <a:endParaRPr lang="en-US" sz="2000" dirty="0"/>
          </a:p>
        </p:txBody>
      </p:sp>
      <p:sp>
        <p:nvSpPr>
          <p:cNvPr id="13" name="Text 10"/>
          <p:cNvSpPr txBox="1"/>
          <p:nvPr/>
        </p:nvSpPr>
        <p:spPr>
          <a:xfrm>
            <a:off x="7040880" y="2660904"/>
            <a:ext cx="1554480" cy="512064"/>
          </a:xfrm>
          <a:prstGeom prst="rect">
            <a:avLst/>
          </a:prstGeom>
          <a:noFill/>
          <a:ln/>
        </p:spPr>
        <p:txBody>
          <a:bodyPr wrap="square" lIns="0" tIns="0" rIns="0" bIns="0" rtlCol="0" anchor="ctr"/>
          <a:lstStyle/>
          <a:p>
            <a:pPr indent="0" marL="0">
              <a:buNone/>
            </a:pPr>
            <a:r>
              <a:rPr lang="en-US" sz="1100" dirty="0">
                <a:solidFill>
                  <a:srgbClr val="5C6675"/>
                </a:solidFill>
                <a:latin typeface="Calibri" pitchFamily="34" charset="0"/>
                <a:ea typeface="Calibri" pitchFamily="34" charset="-122"/>
                <a:cs typeface="Calibri" pitchFamily="34" charset="-120"/>
              </a:rPr>
              <a:t>calls connected (source flag)</a:t>
            </a:r>
            <a:endParaRPr lang="en-US" sz="1100" dirty="0"/>
          </a:p>
        </p:txBody>
      </p:sp>
      <p:sp>
        <p:nvSpPr>
          <p:cNvPr id="14" name="Shape 11"/>
          <p:cNvSpPr/>
          <p:nvPr/>
        </p:nvSpPr>
        <p:spPr>
          <a:xfrm>
            <a:off x="5760720" y="3355848"/>
            <a:ext cx="2926080" cy="658368"/>
          </a:xfrm>
          <a:prstGeom prst="roundRect">
            <a:avLst>
              <a:gd name="adj" fmla="val 11111"/>
            </a:avLst>
          </a:prstGeom>
          <a:solidFill>
            <a:srgbClr val="F3F5F9"/>
          </a:solidFill>
          <a:ln w="9525">
            <a:solidFill>
              <a:srgbClr val="DFE3EA"/>
            </a:solidFill>
            <a:prstDash val="solid"/>
          </a:ln>
        </p:spPr>
      </p:sp>
      <p:sp>
        <p:nvSpPr>
          <p:cNvPr id="15" name="Text 12"/>
          <p:cNvSpPr txBox="1"/>
          <p:nvPr/>
        </p:nvSpPr>
        <p:spPr>
          <a:xfrm>
            <a:off x="5897880" y="3429000"/>
            <a:ext cx="1143000" cy="512064"/>
          </a:xfrm>
          <a:prstGeom prst="rect">
            <a:avLst/>
          </a:prstGeom>
          <a:noFill/>
          <a:ln/>
        </p:spPr>
        <p:txBody>
          <a:bodyPr wrap="square" lIns="0" tIns="0" rIns="0" bIns="0" rtlCol="0" anchor="ctr"/>
          <a:lstStyle/>
          <a:p>
            <a:pPr indent="0" marL="0">
              <a:buNone/>
            </a:pPr>
            <a:r>
              <a:rPr lang="en-US" sz="2000" b="1" dirty="0">
                <a:solidFill>
                  <a:srgbClr val="2457D6"/>
                </a:solidFill>
                <a:latin typeface="Calibri" pitchFamily="34" charset="0"/>
                <a:ea typeface="Calibri" pitchFamily="34" charset="-122"/>
                <a:cs typeface="Calibri" pitchFamily="34" charset="-120"/>
              </a:rPr>
              <a:t>4 / 18</a:t>
            </a:r>
            <a:endParaRPr lang="en-US" sz="2000" dirty="0"/>
          </a:p>
        </p:txBody>
      </p:sp>
      <p:sp>
        <p:nvSpPr>
          <p:cNvPr id="16" name="Text 13"/>
          <p:cNvSpPr txBox="1"/>
          <p:nvPr/>
        </p:nvSpPr>
        <p:spPr>
          <a:xfrm>
            <a:off x="7040880" y="3429000"/>
            <a:ext cx="1554480" cy="512064"/>
          </a:xfrm>
          <a:prstGeom prst="rect">
            <a:avLst/>
          </a:prstGeom>
          <a:noFill/>
          <a:ln/>
        </p:spPr>
        <p:txBody>
          <a:bodyPr wrap="square" lIns="0" tIns="0" rIns="0" bIns="0" rtlCol="0" anchor="ctr"/>
          <a:lstStyle/>
          <a:p>
            <a:pPr indent="0" marL="0">
              <a:buNone/>
            </a:pPr>
            <a:r>
              <a:rPr lang="en-US" sz="1100" dirty="0">
                <a:solidFill>
                  <a:srgbClr val="5C6675"/>
                </a:solidFill>
                <a:latin typeface="Calibri" pitchFamily="34" charset="0"/>
                <a:ea typeface="Calibri" pitchFamily="34" charset="-122"/>
                <a:cs typeface="Calibri" pitchFamily="34" charset="-120"/>
              </a:rPr>
              <a:t>high priority (22.2%)</a:t>
            </a:r>
            <a:endParaRPr lang="en-US" sz="1100" dirty="0"/>
          </a:p>
        </p:txBody>
      </p:sp>
      <p:sp>
        <p:nvSpPr>
          <p:cNvPr id="17" name="Text 14"/>
          <p:cNvSpPr txBox="1"/>
          <p:nvPr/>
        </p:nvSpPr>
        <p:spPr>
          <a:xfrm>
            <a:off x="457200" y="4160520"/>
            <a:ext cx="8229600" cy="640080"/>
          </a:xfrm>
          <a:prstGeom prst="rect">
            <a:avLst/>
          </a:prstGeom>
          <a:noFill/>
          <a:ln/>
        </p:spPr>
        <p:txBody>
          <a:bodyPr wrap="square" lIns="0" tIns="0" rIns="0" bIns="0" rtlCol="0" anchor="t"/>
          <a:lstStyle/>
          <a:p>
            <a:pPr indent="0" marL="0">
              <a:buNone/>
            </a:pPr>
            <a:r>
              <a:rPr lang="en-US" sz="1200" dirty="0">
                <a:solidFill>
                  <a:srgbClr val="14181F"/>
                </a:solidFill>
                <a:latin typeface="Calibri" pitchFamily="34" charset="0"/>
                <a:ea typeface="Calibri" pitchFamily="34" charset="-122"/>
                <a:cs typeface="Calibri" pitchFamily="34" charset="-120"/>
              </a:rPr>
              <a:t>Every number shows its denominator and a definition, and clicking it lists the exact records behind it. People are split into call reps and meeting organisers because an organiser is not automatically the salesperson. Records with no text are listed in intake, not hidden.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400" b="1" dirty="0">
                <a:solidFill>
                  <a:srgbClr val="14181F"/>
                </a:solidFill>
                <a:latin typeface="Calibri" pitchFamily="34" charset="0"/>
                <a:ea typeface="Calibri" pitchFamily="34" charset="-122"/>
                <a:cs typeface="Calibri" pitchFamily="34" charset="-120"/>
              </a:rPr>
              <a:t>Three findings, each traceable to the source</a:t>
            </a:r>
            <a:endParaRPr lang="en-US" sz="2400" dirty="0"/>
          </a:p>
        </p:txBody>
      </p:sp>
      <p:sp>
        <p:nvSpPr>
          <p:cNvPr id="3" name="Text 1"/>
          <p:cNvSpPr txBox="1"/>
          <p:nvPr/>
        </p:nvSpPr>
        <p:spPr>
          <a:xfrm>
            <a:off x="7498080" y="4800600"/>
            <a:ext cx="1188720" cy="228600"/>
          </a:xfrm>
          <a:prstGeom prst="rect">
            <a:avLst/>
          </a:prstGeom>
          <a:noFill/>
          <a:ln/>
        </p:spPr>
        <p:txBody>
          <a:bodyPr wrap="square" lIns="0" tIns="0" rIns="0" bIns="0" rtlCol="0" anchor="ctr"/>
          <a:lstStyle/>
          <a:p>
            <a:pPr algn="r" indent="0" marL="0">
              <a:buNone/>
            </a:pPr>
            <a:r>
              <a:rPr lang="en-US" sz="900" dirty="0">
                <a:solidFill>
                  <a:srgbClr val="5C6675"/>
                </a:solidFill>
                <a:latin typeface="Calibri" pitchFamily="34" charset="0"/>
                <a:ea typeface="Calibri" pitchFamily="34" charset="-122"/>
                <a:cs typeface="Calibri" pitchFamily="34" charset="-120"/>
              </a:rPr>
              <a:t>SalesDesk · 2/5</a:t>
            </a:r>
            <a:endParaRPr lang="en-US" sz="900" dirty="0"/>
          </a:p>
        </p:txBody>
      </p:sp>
      <p:sp>
        <p:nvSpPr>
          <p:cNvPr id="4" name="Shape 2"/>
          <p:cNvSpPr/>
          <p:nvPr/>
        </p:nvSpPr>
        <p:spPr>
          <a:xfrm>
            <a:off x="457200" y="1051560"/>
            <a:ext cx="2651760" cy="3611880"/>
          </a:xfrm>
          <a:prstGeom prst="roundRect">
            <a:avLst>
              <a:gd name="adj" fmla="val 2759"/>
            </a:avLst>
          </a:prstGeom>
          <a:solidFill>
            <a:srgbClr val="F3F5F9"/>
          </a:solidFill>
          <a:ln w="9525">
            <a:solidFill>
              <a:srgbClr val="DFE3EA"/>
            </a:solidFill>
            <a:prstDash val="solid"/>
          </a:ln>
        </p:spPr>
      </p:sp>
      <p:sp>
        <p:nvSpPr>
          <p:cNvPr id="5" name="Text 3"/>
          <p:cNvSpPr txBox="1"/>
          <p:nvPr/>
        </p:nvSpPr>
        <p:spPr>
          <a:xfrm>
            <a:off x="594360" y="1170432"/>
            <a:ext cx="2377440" cy="594360"/>
          </a:xfrm>
          <a:prstGeom prst="rect">
            <a:avLst/>
          </a:prstGeom>
          <a:noFill/>
          <a:ln/>
        </p:spPr>
        <p:txBody>
          <a:bodyPr wrap="square" lIns="0" tIns="0" rIns="0" bIns="0" rtlCol="0" anchor="t"/>
          <a:lstStyle/>
          <a:p>
            <a:pPr indent="0" marL="0">
              <a:buNone/>
            </a:pPr>
            <a:r>
              <a:rPr lang="en-US" sz="1300" b="1" dirty="0">
                <a:solidFill>
                  <a:srgbClr val="2457D6"/>
                </a:solidFill>
                <a:latin typeface="Calibri" pitchFamily="34" charset="0"/>
                <a:ea typeface="Calibri" pitchFamily="34" charset="-122"/>
                <a:cs typeface="Calibri" pitchFamily="34" charset="-120"/>
              </a:rPr>
              <a:t>1  Most of the day cannot be judged</a:t>
            </a:r>
            <a:endParaRPr lang="en-US" sz="1300" dirty="0"/>
          </a:p>
        </p:txBody>
      </p:sp>
      <p:sp>
        <p:nvSpPr>
          <p:cNvPr id="6" name="Text 4"/>
          <p:cNvSpPr txBox="1"/>
          <p:nvPr/>
        </p:nvSpPr>
        <p:spPr>
          <a:xfrm>
            <a:off x="594360" y="1828800"/>
            <a:ext cx="2377440" cy="1234440"/>
          </a:xfrm>
          <a:prstGeom prst="rect">
            <a:avLst/>
          </a:prstGeom>
          <a:noFill/>
          <a:ln/>
        </p:spPr>
        <p:txBody>
          <a:bodyPr wrap="square" lIns="0" tIns="0" rIns="0" bIns="0" rtlCol="0" anchor="t"/>
          <a:lstStyle/>
          <a:p>
            <a:pPr indent="0" marL="0">
              <a:buNone/>
            </a:pPr>
            <a:r>
              <a:rPr lang="en-US" sz="1050" dirty="0">
                <a:solidFill>
                  <a:srgbClr val="14181F"/>
                </a:solidFill>
                <a:latin typeface="Calibri" pitchFamily="34" charset="0"/>
                <a:ea typeface="Calibri" pitchFamily="34" charset="-122"/>
                <a:cs typeface="Calibri" pitchFamily="34" charset="-120"/>
              </a:rPr>
              <a:t>18/44 usable. 20 calls have no text; 3 meetings silent, 3 never captured. 2 of the 11 "connected" calls (B11, B14) have no text.</a:t>
            </a:r>
            <a:endParaRPr lang="en-US" sz="1050" dirty="0"/>
          </a:p>
        </p:txBody>
      </p:sp>
      <p:sp>
        <p:nvSpPr>
          <p:cNvPr id="7" name="Text 5"/>
          <p:cNvSpPr txBox="1"/>
          <p:nvPr/>
        </p:nvSpPr>
        <p:spPr>
          <a:xfrm>
            <a:off x="594360" y="3108960"/>
            <a:ext cx="2377440" cy="822960"/>
          </a:xfrm>
          <a:prstGeom prst="rect">
            <a:avLst/>
          </a:prstGeom>
          <a:noFill/>
          <a:ln/>
        </p:spPr>
        <p:txBody>
          <a:bodyPr wrap="square" lIns="0" tIns="0" rIns="0" bIns="0" rtlCol="0" anchor="t"/>
          <a:lstStyle/>
          <a:p>
            <a:pPr indent="0" marL="0">
              <a:buNone/>
            </a:pPr>
            <a:r>
              <a:rPr lang="en-US" sz="1050" i="1" dirty="0">
                <a:solidFill>
                  <a:srgbClr val="D4531F"/>
                </a:solidFill>
                <a:latin typeface="Calibri" pitchFamily="34" charset="0"/>
                <a:ea typeface="Calibri" pitchFamily="34" charset="-122"/>
                <a:cs typeface="Calibri" pitchFamily="34" charset="-120"/>
              </a:rPr>
              <a:t>M05: “The meeting was recorded but nobody spoke.”</a:t>
            </a:r>
            <a:endParaRPr lang="en-US" sz="1050" dirty="0"/>
          </a:p>
        </p:txBody>
      </p:sp>
      <p:sp>
        <p:nvSpPr>
          <p:cNvPr id="8" name="Text 6"/>
          <p:cNvSpPr txBox="1"/>
          <p:nvPr/>
        </p:nvSpPr>
        <p:spPr>
          <a:xfrm>
            <a:off x="594360" y="4023360"/>
            <a:ext cx="2377440" cy="502920"/>
          </a:xfrm>
          <a:prstGeom prst="rect">
            <a:avLst/>
          </a:prstGeom>
          <a:noFill/>
          <a:ln/>
        </p:spPr>
        <p:txBody>
          <a:bodyPr wrap="square" lIns="0" tIns="0" rIns="0" bIns="0" rtlCol="0" anchor="t"/>
          <a:lstStyle/>
          <a:p>
            <a:pPr indent="0" marL="0">
              <a:buNone/>
            </a:pPr>
            <a:r>
              <a:rPr lang="en-US" sz="1050" b="1" dirty="0">
                <a:solidFill>
                  <a:srgbClr val="14181F"/>
                </a:solidFill>
                <a:latin typeface="Calibri" pitchFamily="34" charset="0"/>
                <a:ea typeface="Calibri" pitchFamily="34" charset="-122"/>
                <a:cs typeface="Calibri" pitchFamily="34" charset="-120"/>
              </a:rPr>
              <a:t>So what: Fix capture before judging reps.</a:t>
            </a:r>
            <a:endParaRPr lang="en-US" sz="1050" dirty="0"/>
          </a:p>
        </p:txBody>
      </p:sp>
      <p:sp>
        <p:nvSpPr>
          <p:cNvPr id="9" name="Shape 7"/>
          <p:cNvSpPr/>
          <p:nvPr/>
        </p:nvSpPr>
        <p:spPr>
          <a:xfrm>
            <a:off x="3246120" y="1051560"/>
            <a:ext cx="2651760" cy="3611880"/>
          </a:xfrm>
          <a:prstGeom prst="roundRect">
            <a:avLst>
              <a:gd name="adj" fmla="val 2759"/>
            </a:avLst>
          </a:prstGeom>
          <a:solidFill>
            <a:srgbClr val="F3F5F9"/>
          </a:solidFill>
          <a:ln w="9525">
            <a:solidFill>
              <a:srgbClr val="DFE3EA"/>
            </a:solidFill>
            <a:prstDash val="solid"/>
          </a:ln>
        </p:spPr>
      </p:sp>
      <p:sp>
        <p:nvSpPr>
          <p:cNvPr id="10" name="Text 8"/>
          <p:cNvSpPr txBox="1"/>
          <p:nvPr/>
        </p:nvSpPr>
        <p:spPr>
          <a:xfrm>
            <a:off x="3383280" y="1170432"/>
            <a:ext cx="2377440" cy="594360"/>
          </a:xfrm>
          <a:prstGeom prst="rect">
            <a:avLst/>
          </a:prstGeom>
          <a:noFill/>
          <a:ln/>
        </p:spPr>
        <p:txBody>
          <a:bodyPr wrap="square" lIns="0" tIns="0" rIns="0" bIns="0" rtlCol="0" anchor="t"/>
          <a:lstStyle/>
          <a:p>
            <a:pPr indent="0" marL="0">
              <a:buNone/>
            </a:pPr>
            <a:r>
              <a:rPr lang="en-US" sz="1300" b="1" dirty="0">
                <a:solidFill>
                  <a:srgbClr val="2457D6"/>
                </a:solidFill>
                <a:latin typeface="Calibri" pitchFamily="34" charset="0"/>
                <a:ea typeface="Calibri" pitchFamily="34" charset="-122"/>
                <a:cs typeface="Calibri" pitchFamily="34" charset="-120"/>
              </a:rPr>
              <a:t>2  M04 Cedarwave needs a manager today</a:t>
            </a:r>
            <a:endParaRPr lang="en-US" sz="1300" dirty="0"/>
          </a:p>
        </p:txBody>
      </p:sp>
      <p:sp>
        <p:nvSpPr>
          <p:cNvPr id="11" name="Text 9"/>
          <p:cNvSpPr txBox="1"/>
          <p:nvPr/>
        </p:nvSpPr>
        <p:spPr>
          <a:xfrm>
            <a:off x="3383280" y="1828800"/>
            <a:ext cx="2377440" cy="1234440"/>
          </a:xfrm>
          <a:prstGeom prst="rect">
            <a:avLst/>
          </a:prstGeom>
          <a:noFill/>
          <a:ln/>
        </p:spPr>
        <p:txBody>
          <a:bodyPr wrap="square" lIns="0" tIns="0" rIns="0" bIns="0" rtlCol="0" anchor="t"/>
          <a:lstStyle/>
          <a:p>
            <a:pPr indent="0" marL="0">
              <a:buNone/>
            </a:pPr>
            <a:r>
              <a:rPr lang="en-US" sz="1050" dirty="0">
                <a:solidFill>
                  <a:srgbClr val="14181F"/>
                </a:solidFill>
                <a:latin typeface="Calibri" pitchFamily="34" charset="0"/>
                <a:ea typeface="Calibri" pitchFamily="34" charset="-122"/>
                <a:cs typeface="Calibri" pitchFamily="34" charset="-120"/>
              </a:rPr>
              <a:t>Existing customer leaving its prepaid card programme. Both sides left with open follow-ups and no date. Priority 80.</a:t>
            </a:r>
            <a:endParaRPr lang="en-US" sz="1050" dirty="0"/>
          </a:p>
        </p:txBody>
      </p:sp>
      <p:sp>
        <p:nvSpPr>
          <p:cNvPr id="12" name="Text 10"/>
          <p:cNvSpPr txBox="1"/>
          <p:nvPr/>
        </p:nvSpPr>
        <p:spPr>
          <a:xfrm>
            <a:off x="3383280" y="3108960"/>
            <a:ext cx="2377440" cy="822960"/>
          </a:xfrm>
          <a:prstGeom prst="rect">
            <a:avLst/>
          </a:prstGeom>
          <a:noFill/>
          <a:ln/>
        </p:spPr>
        <p:txBody>
          <a:bodyPr wrap="square" lIns="0" tIns="0" rIns="0" bIns="0" rtlCol="0" anchor="t"/>
          <a:lstStyle/>
          <a:p>
            <a:pPr indent="0" marL="0">
              <a:buNone/>
            </a:pPr>
            <a:r>
              <a:rPr lang="en-US" sz="1050" i="1" dirty="0">
                <a:solidFill>
                  <a:srgbClr val="D4531F"/>
                </a:solidFill>
                <a:latin typeface="Calibri" pitchFamily="34" charset="0"/>
                <a:ea typeface="Calibri" pitchFamily="34" charset="-122"/>
                <a:cs typeface="Calibri" pitchFamily="34" charset="-120"/>
              </a:rPr>
              <a:t>M04 turn 11: “moving from prepaid to credit is the main issue for us”</a:t>
            </a:r>
            <a:endParaRPr lang="en-US" sz="1050" dirty="0"/>
          </a:p>
        </p:txBody>
      </p:sp>
      <p:sp>
        <p:nvSpPr>
          <p:cNvPr id="13" name="Text 11"/>
          <p:cNvSpPr txBox="1"/>
          <p:nvPr/>
        </p:nvSpPr>
        <p:spPr>
          <a:xfrm>
            <a:off x="3383280" y="4023360"/>
            <a:ext cx="2377440" cy="502920"/>
          </a:xfrm>
          <a:prstGeom prst="rect">
            <a:avLst/>
          </a:prstGeom>
          <a:noFill/>
          <a:ln/>
        </p:spPr>
        <p:txBody>
          <a:bodyPr wrap="square" lIns="0" tIns="0" rIns="0" bIns="0" rtlCol="0" anchor="t"/>
          <a:lstStyle/>
          <a:p>
            <a:pPr indent="0" marL="0">
              <a:buNone/>
            </a:pPr>
            <a:r>
              <a:rPr lang="en-US" sz="1050" b="1" dirty="0">
                <a:solidFill>
                  <a:srgbClr val="14181F"/>
                </a:solidFill>
                <a:latin typeface="Calibri" pitchFamily="34" charset="0"/>
                <a:ea typeface="Calibri" pitchFamily="34" charset="-122"/>
                <a:cs typeface="Calibri" pitchFamily="34" charset="-120"/>
              </a:rPr>
              <a:t>So what: Name an owner and a date.</a:t>
            </a:r>
            <a:endParaRPr lang="en-US" sz="1050" dirty="0"/>
          </a:p>
        </p:txBody>
      </p:sp>
      <p:sp>
        <p:nvSpPr>
          <p:cNvPr id="14" name="Shape 12"/>
          <p:cNvSpPr/>
          <p:nvPr/>
        </p:nvSpPr>
        <p:spPr>
          <a:xfrm>
            <a:off x="6035040" y="1051560"/>
            <a:ext cx="2651760" cy="3611880"/>
          </a:xfrm>
          <a:prstGeom prst="roundRect">
            <a:avLst>
              <a:gd name="adj" fmla="val 2759"/>
            </a:avLst>
          </a:prstGeom>
          <a:solidFill>
            <a:srgbClr val="F3F5F9"/>
          </a:solidFill>
          <a:ln w="9525">
            <a:solidFill>
              <a:srgbClr val="DFE3EA"/>
            </a:solidFill>
            <a:prstDash val="solid"/>
          </a:ln>
        </p:spPr>
      </p:sp>
      <p:sp>
        <p:nvSpPr>
          <p:cNvPr id="15" name="Text 13"/>
          <p:cNvSpPr txBox="1"/>
          <p:nvPr/>
        </p:nvSpPr>
        <p:spPr>
          <a:xfrm>
            <a:off x="6172200" y="1170432"/>
            <a:ext cx="2377440" cy="594360"/>
          </a:xfrm>
          <a:prstGeom prst="rect">
            <a:avLst/>
          </a:prstGeom>
          <a:noFill/>
          <a:ln/>
        </p:spPr>
        <p:txBody>
          <a:bodyPr wrap="square" lIns="0" tIns="0" rIns="0" bIns="0" rtlCol="0" anchor="t"/>
          <a:lstStyle/>
          <a:p>
            <a:pPr indent="0" marL="0">
              <a:buNone/>
            </a:pPr>
            <a:r>
              <a:rPr lang="en-US" sz="1300" b="1" dirty="0">
                <a:solidFill>
                  <a:srgbClr val="2457D6"/>
                </a:solidFill>
                <a:latin typeface="Calibri" pitchFamily="34" charset="0"/>
                <a:ea typeface="Calibri" pitchFamily="34" charset="-122"/>
                <a:cs typeface="Calibri" pitchFamily="34" charset="-120"/>
              </a:rPr>
              <a:t>3  C09 is not a referral</a:t>
            </a:r>
            <a:endParaRPr lang="en-US" sz="1300" dirty="0"/>
          </a:p>
        </p:txBody>
      </p:sp>
      <p:sp>
        <p:nvSpPr>
          <p:cNvPr id="16" name="Text 14"/>
          <p:cNvSpPr txBox="1"/>
          <p:nvPr/>
        </p:nvSpPr>
        <p:spPr>
          <a:xfrm>
            <a:off x="6172200" y="1828800"/>
            <a:ext cx="2377440" cy="1234440"/>
          </a:xfrm>
          <a:prstGeom prst="rect">
            <a:avLst/>
          </a:prstGeom>
          <a:noFill/>
          <a:ln/>
        </p:spPr>
        <p:txBody>
          <a:bodyPr wrap="square" lIns="0" tIns="0" rIns="0" bIns="0" rtlCol="0" anchor="t"/>
          <a:lstStyle/>
          <a:p>
            <a:pPr indent="0" marL="0">
              <a:buNone/>
            </a:pPr>
            <a:r>
              <a:rPr lang="en-US" sz="1050" dirty="0">
                <a:solidFill>
                  <a:srgbClr val="14181F"/>
                </a:solidFill>
                <a:latin typeface="Calibri" pitchFamily="34" charset="0"/>
                <a:ea typeface="Calibri" pitchFamily="34" charset="-122"/>
                <a:cs typeface="Calibri" pitchFamily="34" charset="-120"/>
              </a:rPr>
              <a:t>Stored label says “referred”. The contact declined and refused use of their name, so it goes to Outreach log, not the pipeline.</a:t>
            </a:r>
            <a:endParaRPr lang="en-US" sz="1050" dirty="0"/>
          </a:p>
        </p:txBody>
      </p:sp>
      <p:sp>
        <p:nvSpPr>
          <p:cNvPr id="17" name="Text 15"/>
          <p:cNvSpPr txBox="1"/>
          <p:nvPr/>
        </p:nvSpPr>
        <p:spPr>
          <a:xfrm>
            <a:off x="6172200" y="3108960"/>
            <a:ext cx="2377440" cy="822960"/>
          </a:xfrm>
          <a:prstGeom prst="rect">
            <a:avLst/>
          </a:prstGeom>
          <a:noFill/>
          <a:ln/>
        </p:spPr>
        <p:txBody>
          <a:bodyPr wrap="square" lIns="0" tIns="0" rIns="0" bIns="0" rtlCol="0" anchor="t"/>
          <a:lstStyle/>
          <a:p>
            <a:pPr indent="0" marL="0">
              <a:buNone/>
            </a:pPr>
            <a:r>
              <a:rPr lang="en-US" sz="1050" i="1" dirty="0">
                <a:solidFill>
                  <a:srgbClr val="D4531F"/>
                </a:solidFill>
                <a:latin typeface="Calibri" pitchFamily="34" charset="0"/>
                <a:ea typeface="Calibri" pitchFamily="34" charset="-122"/>
                <a:cs typeface="Calibri" pitchFamily="34" charset="-120"/>
              </a:rPr>
              <a:t>C09: “No, please don't use my name.”</a:t>
            </a:r>
            <a:endParaRPr lang="en-US" sz="1050" dirty="0"/>
          </a:p>
        </p:txBody>
      </p:sp>
      <p:sp>
        <p:nvSpPr>
          <p:cNvPr id="18" name="Text 16"/>
          <p:cNvSpPr txBox="1"/>
          <p:nvPr/>
        </p:nvSpPr>
        <p:spPr>
          <a:xfrm>
            <a:off x="6172200" y="4023360"/>
            <a:ext cx="2377440" cy="502920"/>
          </a:xfrm>
          <a:prstGeom prst="rect">
            <a:avLst/>
          </a:prstGeom>
          <a:noFill/>
          <a:ln/>
        </p:spPr>
        <p:txBody>
          <a:bodyPr wrap="square" lIns="0" tIns="0" rIns="0" bIns="0" rtlCol="0" anchor="t"/>
          <a:lstStyle/>
          <a:p>
            <a:pPr indent="0" marL="0">
              <a:buNone/>
            </a:pPr>
            <a:r>
              <a:rPr lang="en-US" sz="1050" b="1" dirty="0">
                <a:solidFill>
                  <a:srgbClr val="14181F"/>
                </a:solidFill>
                <a:latin typeface="Calibri" pitchFamily="34" charset="0"/>
                <a:ea typeface="Calibri" pitchFamily="34" charset="-122"/>
                <a:cs typeface="Calibri" pitchFamily="34" charset="-120"/>
              </a:rPr>
              <a:t>So what: Treat stored labels as inputs to check.</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400" b="1" dirty="0">
                <a:solidFill>
                  <a:srgbClr val="14181F"/>
                </a:solidFill>
                <a:latin typeface="Calibri" pitchFamily="34" charset="0"/>
                <a:ea typeface="Calibri" pitchFamily="34" charset="-122"/>
                <a:cs typeface="Calibri" pitchFamily="34" charset="-120"/>
              </a:rPr>
              <a:t>Routing: how a record gets its route, and one hard call (C09)</a:t>
            </a:r>
            <a:endParaRPr lang="en-US" sz="2400" dirty="0"/>
          </a:p>
        </p:txBody>
      </p:sp>
      <p:sp>
        <p:nvSpPr>
          <p:cNvPr id="3" name="Text 1"/>
          <p:cNvSpPr txBox="1"/>
          <p:nvPr/>
        </p:nvSpPr>
        <p:spPr>
          <a:xfrm>
            <a:off x="7498080" y="4800600"/>
            <a:ext cx="1188720" cy="228600"/>
          </a:xfrm>
          <a:prstGeom prst="rect">
            <a:avLst/>
          </a:prstGeom>
          <a:noFill/>
          <a:ln/>
        </p:spPr>
        <p:txBody>
          <a:bodyPr wrap="square" lIns="0" tIns="0" rIns="0" bIns="0" rtlCol="0" anchor="ctr"/>
          <a:lstStyle/>
          <a:p>
            <a:pPr algn="r" indent="0" marL="0">
              <a:buNone/>
            </a:pPr>
            <a:r>
              <a:rPr lang="en-US" sz="900" dirty="0">
                <a:solidFill>
                  <a:srgbClr val="5C6675"/>
                </a:solidFill>
                <a:latin typeface="Calibri" pitchFamily="34" charset="0"/>
                <a:ea typeface="Calibri" pitchFamily="34" charset="-122"/>
                <a:cs typeface="Calibri" pitchFamily="34" charset="-120"/>
              </a:rPr>
              <a:t>SalesDesk · 3/5</a:t>
            </a:r>
            <a:endParaRPr lang="en-US" sz="900" dirty="0"/>
          </a:p>
        </p:txBody>
      </p:sp>
      <p:pic>
        <p:nvPicPr>
          <p:cNvPr id="4" name="Image 0" descr="c09.png">    </p:cNvPr>
          <p:cNvPicPr>
            <a:picLocks noChangeAspect="1"/>
          </p:cNvPicPr>
          <p:nvPr/>
        </p:nvPicPr>
        <p:blipFill>
          <a:blip r:embed="rId1"/>
          <a:srcRect l="0" r="0" t="0" b="0"/>
          <a:stretch/>
        </p:blipFill>
        <p:spPr>
          <a:xfrm>
            <a:off x="457200" y="1051560"/>
            <a:ext cx="4754880" cy="2825496"/>
          </a:xfrm>
          <a:prstGeom prst="rect">
            <a:avLst/>
          </a:prstGeom>
        </p:spPr>
      </p:pic>
      <p:sp>
        <p:nvSpPr>
          <p:cNvPr id="5" name="Text 2"/>
          <p:cNvSpPr txBox="1"/>
          <p:nvPr/>
        </p:nvSpPr>
        <p:spPr>
          <a:xfrm>
            <a:off x="5440680" y="1051560"/>
            <a:ext cx="3246120" cy="274320"/>
          </a:xfrm>
          <a:prstGeom prst="rect">
            <a:avLst/>
          </a:prstGeom>
          <a:noFill/>
          <a:ln/>
        </p:spPr>
        <p:txBody>
          <a:bodyPr wrap="square" lIns="0" tIns="0" rIns="0" bIns="0" rtlCol="0" anchor="ctr"/>
          <a:lstStyle/>
          <a:p>
            <a:pPr indent="0" marL="0">
              <a:buNone/>
            </a:pPr>
            <a:r>
              <a:rPr lang="en-US" sz="1300" b="1" dirty="0">
                <a:solidFill>
                  <a:srgbClr val="2457D6"/>
                </a:solidFill>
                <a:latin typeface="Calibri" pitchFamily="34" charset="0"/>
                <a:ea typeface="Calibri" pitchFamily="34" charset="-122"/>
                <a:cs typeface="Calibri" pitchFamily="34" charset="-120"/>
              </a:rPr>
              <a:t>How it works</a:t>
            </a:r>
            <a:endParaRPr lang="en-US" sz="1300" dirty="0"/>
          </a:p>
        </p:txBody>
      </p:sp>
      <p:sp>
        <p:nvSpPr>
          <p:cNvPr id="6" name="Text 3"/>
          <p:cNvSpPr txBox="1"/>
          <p:nvPr/>
        </p:nvSpPr>
        <p:spPr>
          <a:xfrm>
            <a:off x="5440680" y="1371600"/>
            <a:ext cx="3246120" cy="1371600"/>
          </a:xfrm>
          <a:prstGeom prst="rect">
            <a:avLst/>
          </a:prstGeom>
          <a:noFill/>
          <a:ln/>
        </p:spPr>
        <p:txBody>
          <a:bodyPr wrap="square" lIns="0" tIns="0" rIns="0" bIns="0" rtlCol="0" anchor="t"/>
          <a:lstStyle/>
          <a:p>
            <a:pPr indent="0" marL="0">
              <a:spcAft>
                <a:spcPts val="500"/>
              </a:spcAft>
              <a:buNone/>
            </a:pPr>
            <a:r>
              <a:rPr lang="en-US" sz="1100" dirty="0">
                <a:solidFill>
                  <a:srgbClr val="14181F"/>
                </a:solidFill>
                <a:latin typeface="Calibri" pitchFamily="34" charset="0"/>
                <a:ea typeface="Calibri" pitchFamily="34" charset="-122"/>
                <a:cs typeface="Calibri" pitchFamily="34" charset="-120"/>
              </a:rPr>
              <a:t>Rules read the supplied text for pricing, next steps, problems, partners, refusals.</a:t>
            </a:r>
            <a:endParaRPr lang="en-US" sz="1100" dirty="0"/>
          </a:p>
          <a:p>
            <a:pPr indent="0" marL="0">
              <a:spcAft>
                <a:spcPts val="500"/>
              </a:spcAft>
              <a:buNone/>
            </a:pPr>
            <a:r>
              <a:rPr lang="en-US" sz="1100" dirty="0">
                <a:solidFill>
                  <a:srgbClr val="14181F"/>
                </a:solidFill>
                <a:latin typeface="Calibri" pitchFamily="34" charset="0"/>
                <a:ea typeface="Calibri" pitchFamily="34" charset="-122"/>
                <a:cs typeface="Calibri" pitchFamily="34" charset="-120"/>
              </a:rPr>
              <a:t>Each of 8 routes carries a reason and exact quotes; meetings cite turn numbers, calls cite quotes.</a:t>
            </a:r>
            <a:endParaRPr lang="en-US" sz="1100" dirty="0"/>
          </a:p>
          <a:p>
            <a:pPr indent="0" marL="0">
              <a:spcAft>
                <a:spcPts val="500"/>
              </a:spcAft>
              <a:buNone/>
            </a:pPr>
            <a:r>
              <a:rPr lang="en-US" sz="1100" dirty="0">
                <a:solidFill>
                  <a:srgbClr val="14181F"/>
                </a:solidFill>
                <a:latin typeface="Calibri" pitchFamily="34" charset="0"/>
                <a:ea typeface="Calibri" pitchFamily="34" charset="-122"/>
                <a:cs typeface="Calibri" pitchFamily="34" charset="-120"/>
              </a:rPr>
              <a:t>A record can sit in several routes; the manager can change them.</a:t>
            </a:r>
            <a:endParaRPr lang="en-US" sz="1100" dirty="0"/>
          </a:p>
        </p:txBody>
      </p:sp>
      <p:sp>
        <p:nvSpPr>
          <p:cNvPr id="7" name="Text 4"/>
          <p:cNvSpPr txBox="1"/>
          <p:nvPr/>
        </p:nvSpPr>
        <p:spPr>
          <a:xfrm>
            <a:off x="5440680" y="2788920"/>
            <a:ext cx="3246120" cy="274320"/>
          </a:xfrm>
          <a:prstGeom prst="rect">
            <a:avLst/>
          </a:prstGeom>
          <a:noFill/>
          <a:ln/>
        </p:spPr>
        <p:txBody>
          <a:bodyPr wrap="square" lIns="0" tIns="0" rIns="0" bIns="0" rtlCol="0" anchor="ctr"/>
          <a:lstStyle/>
          <a:p>
            <a:pPr indent="0" marL="0">
              <a:buNone/>
            </a:pPr>
            <a:r>
              <a:rPr lang="en-US" sz="1300" b="1" dirty="0">
                <a:solidFill>
                  <a:srgbClr val="D4531F"/>
                </a:solidFill>
                <a:latin typeface="Calibri" pitchFamily="34" charset="0"/>
                <a:ea typeface="Calibri" pitchFamily="34" charset="-122"/>
                <a:cs typeface="Calibri" pitchFamily="34" charset="-120"/>
              </a:rPr>
              <a:t>The hard call</a:t>
            </a:r>
            <a:endParaRPr lang="en-US" sz="1300" dirty="0"/>
          </a:p>
        </p:txBody>
      </p:sp>
      <p:sp>
        <p:nvSpPr>
          <p:cNvPr id="8" name="Text 5"/>
          <p:cNvSpPr txBox="1"/>
          <p:nvPr/>
        </p:nvSpPr>
        <p:spPr>
          <a:xfrm>
            <a:off x="5440680" y="3108960"/>
            <a:ext cx="3246120" cy="1371600"/>
          </a:xfrm>
          <a:prstGeom prst="rect">
            <a:avLst/>
          </a:prstGeom>
          <a:noFill/>
          <a:ln/>
        </p:spPr>
        <p:txBody>
          <a:bodyPr wrap="square" lIns="0" tIns="0" rIns="0" bIns="0" rtlCol="0" anchor="t"/>
          <a:lstStyle/>
          <a:p>
            <a:pPr indent="0" marL="0">
              <a:buNone/>
            </a:pPr>
            <a:r>
              <a:rPr lang="en-US" sz="1100" dirty="0">
                <a:solidFill>
                  <a:srgbClr val="14181F"/>
                </a:solidFill>
                <a:latin typeface="Calibri" pitchFamily="34" charset="0"/>
                <a:ea typeface="Calibri" pitchFamily="34" charset="-122"/>
                <a:cs typeface="Calibri" pitchFamily="34" charset="-120"/>
              </a:rPr>
              <a:t>C09 says “referred”, but the contact said they build their own software and “No, please don't use my name.” Cost of my choice: a real lead could be under-counted. It is flagged for review, so a person decides.</a:t>
            </a:r>
            <a:endParaRPr lang="en-US" sz="1100" dirty="0"/>
          </a:p>
        </p:txBody>
      </p:sp>
      <p:sp>
        <p:nvSpPr>
          <p:cNvPr id="9" name="Text 6"/>
          <p:cNvSpPr txBox="1"/>
          <p:nvPr/>
        </p:nvSpPr>
        <p:spPr>
          <a:xfrm>
            <a:off x="457200" y="4023360"/>
            <a:ext cx="4754880" cy="640080"/>
          </a:xfrm>
          <a:prstGeom prst="rect">
            <a:avLst/>
          </a:prstGeom>
          <a:noFill/>
          <a:ln/>
        </p:spPr>
        <p:txBody>
          <a:bodyPr wrap="square" lIns="0" tIns="0" rIns="0" bIns="0" rtlCol="0" anchor="t"/>
          <a:lstStyle/>
          <a:p>
            <a:pPr indent="0" marL="0">
              <a:buNone/>
            </a:pPr>
            <a:r>
              <a:rPr lang="en-US" sz="1000" dirty="0">
                <a:solidFill>
                  <a:srgbClr val="5C6675"/>
                </a:solidFill>
                <a:latin typeface="Calibri" pitchFamily="34" charset="0"/>
                <a:ea typeface="Calibri" pitchFamily="34" charset="-122"/>
                <a:cs typeface="Calibri" pitchFamily="34" charset="-120"/>
              </a:rPr>
              <a:t>Routes: Support escalation · Deal next steps · Customer follow-up · Partner / channel · Internal / vendor · Coaching · Outreach log · Intake only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400" b="1" dirty="0">
                <a:solidFill>
                  <a:srgbClr val="14181F"/>
                </a:solidFill>
                <a:latin typeface="Calibri" pitchFamily="34" charset="0"/>
                <a:ea typeface="Calibri" pitchFamily="34" charset="-122"/>
                <a:cs typeface="Calibri" pitchFamily="34" charset="-120"/>
              </a:rPr>
              <a:t>Repeats and updates cannot inflate counts or erase a correction</a:t>
            </a:r>
            <a:endParaRPr lang="en-US" sz="2400" dirty="0"/>
          </a:p>
        </p:txBody>
      </p:sp>
      <p:sp>
        <p:nvSpPr>
          <p:cNvPr id="3" name="Text 1"/>
          <p:cNvSpPr txBox="1"/>
          <p:nvPr/>
        </p:nvSpPr>
        <p:spPr>
          <a:xfrm>
            <a:off x="7498080" y="4800600"/>
            <a:ext cx="1188720" cy="228600"/>
          </a:xfrm>
          <a:prstGeom prst="rect">
            <a:avLst/>
          </a:prstGeom>
          <a:noFill/>
          <a:ln/>
        </p:spPr>
        <p:txBody>
          <a:bodyPr wrap="square" lIns="0" tIns="0" rIns="0" bIns="0" rtlCol="0" anchor="ctr"/>
          <a:lstStyle/>
          <a:p>
            <a:pPr algn="r" indent="0" marL="0">
              <a:buNone/>
            </a:pPr>
            <a:r>
              <a:rPr lang="en-US" sz="900" dirty="0">
                <a:solidFill>
                  <a:srgbClr val="5C6675"/>
                </a:solidFill>
                <a:latin typeface="Calibri" pitchFamily="34" charset="0"/>
                <a:ea typeface="Calibri" pitchFamily="34" charset="-122"/>
                <a:cs typeface="Calibri" pitchFamily="34" charset="-120"/>
              </a:rPr>
              <a:t>SalesDesk · 4/5</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5120640" cy="914400"/>
        </p:xfrm>
        <a:graphic>
          <a:graphicData uri="http://schemas.openxmlformats.org/drawingml/2006/table">
            <a:tbl>
              <a:tblPr/>
              <a:tblGrid>
                <a:gridCol w="1828800"/>
                <a:gridCol w="594360"/>
                <a:gridCol w="731520"/>
                <a:gridCol w="685800"/>
                <a:gridCol w="640080"/>
                <a:gridCol w="640080"/>
              </a:tblGrid>
              <a:tr h="365760">
                <a:tc>
                  <a:txBody>
                    <a:bodyPr/>
                    <a:lstStyle/>
                    <a:p>
                      <a:pPr algn="l" indent="0" marL="0">
                        <a:buNone/>
                      </a:pPr>
                      <a:r>
                        <a:rPr lang="en-US" sz="1100" b="1" dirty="0">
                          <a:solidFill>
                            <a:srgbClr val="FFFFFF"/>
                          </a:solidFill>
                        </a:rPr>
                        <a:t>Step</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2457D6"/>
                    </a:solidFill>
                  </a:tcPr>
                </a:tc>
                <a:tc>
                  <a:txBody>
                    <a:bodyPr/>
                    <a:lstStyle/>
                    <a:p>
                      <a:pPr algn="ctr" indent="0" marL="0">
                        <a:buNone/>
                      </a:pPr>
                      <a:r>
                        <a:rPr lang="en-US" sz="1100" b="1" dirty="0">
                          <a:solidFill>
                            <a:srgbClr val="FFFFFF"/>
                          </a:solidFill>
                        </a:rPr>
                        <a:t>Added</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2457D6"/>
                    </a:solidFill>
                  </a:tcPr>
                </a:tc>
                <a:tc>
                  <a:txBody>
                    <a:bodyPr/>
                    <a:lstStyle/>
                    <a:p>
                      <a:pPr algn="ctr" indent="0" marL="0">
                        <a:buNone/>
                      </a:pPr>
                      <a:r>
                        <a:rPr lang="en-US" sz="1100" b="1" dirty="0">
                          <a:solidFill>
                            <a:srgbClr val="FFFFFF"/>
                          </a:solidFill>
                        </a:rPr>
                        <a:t>Updated</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2457D6"/>
                    </a:solidFill>
                  </a:tcPr>
                </a:tc>
                <a:tc>
                  <a:txBody>
                    <a:bodyPr/>
                    <a:lstStyle/>
                    <a:p>
                      <a:pPr algn="ctr" indent="0" marL="0">
                        <a:buNone/>
                      </a:pPr>
                      <a:r>
                        <a:rPr lang="en-US" sz="1100" b="1" dirty="0">
                          <a:solidFill>
                            <a:srgbClr val="FFFFFF"/>
                          </a:solidFill>
                        </a:rPr>
                        <a:t>Ignored</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2457D6"/>
                    </a:solidFill>
                  </a:tcPr>
                </a:tc>
                <a:tc>
                  <a:txBody>
                    <a:bodyPr/>
                    <a:lstStyle/>
                    <a:p>
                      <a:pPr algn="ctr" indent="0" marL="0">
                        <a:buNone/>
                      </a:pPr>
                      <a:r>
                        <a:rPr lang="en-US" sz="1100" b="1" dirty="0">
                          <a:solidFill>
                            <a:srgbClr val="FFFFFF"/>
                          </a:solidFill>
                        </a:rPr>
                        <a:t>Unique</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2457D6"/>
                    </a:solidFill>
                  </a:tcPr>
                </a:tc>
                <a:tc>
                  <a:txBody>
                    <a:bodyPr/>
                    <a:lstStyle/>
                    <a:p>
                      <a:pPr algn="ctr" indent="0" marL="0">
                        <a:buNone/>
                      </a:pPr>
                      <a:r>
                        <a:rPr lang="en-US" sz="1100" b="1" dirty="0">
                          <a:solidFill>
                            <a:srgbClr val="FFFFFF"/>
                          </a:solidFill>
                        </a:rPr>
                        <a:t>Usable</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2457D6"/>
                    </a:solidFill>
                  </a:tcPr>
                </a:tc>
              </a:tr>
              <a:tr h="365760">
                <a:tc>
                  <a:txBody>
                    <a:bodyPr/>
                    <a:lstStyle/>
                    <a:p>
                      <a:pPr algn="l" indent="0" marL="0">
                        <a:buNone/>
                      </a:pPr>
                      <a:r>
                        <a:rPr lang="en-US" sz="1100" dirty="0">
                          <a:solidFill>
                            <a:srgbClr val="14181F"/>
                          </a:solidFill>
                        </a:rPr>
                        <a:t>1  Import batch 1</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44</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0</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0</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44</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17</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4181F"/>
                          </a:solidFill>
                        </a:rPr>
                        <a:t>2  Same batch, reordered</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0</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0</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44</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44</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17</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r>
              <a:tr h="365760">
                <a:tc>
                  <a:txBody>
                    <a:bodyPr/>
                    <a:lstStyle/>
                    <a:p>
                      <a:pPr algn="l" indent="0" marL="0">
                        <a:buNone/>
                      </a:pPr>
                      <a:r>
                        <a:rPr lang="en-US" sz="1100" dirty="0">
                          <a:solidFill>
                            <a:srgbClr val="14181F"/>
                          </a:solidFill>
                        </a:rPr>
                        <a:t>3  Manual route on M07</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44</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17</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4181F"/>
                          </a:solidFill>
                        </a:rPr>
                        <a:t>4  Update (revision 2)</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0</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1</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0</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44</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18</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r>
              <a:tr h="365760">
                <a:tc>
                  <a:txBody>
                    <a:bodyPr/>
                    <a:lstStyle/>
                    <a:p>
                      <a:pPr algn="l" indent="0" marL="0">
                        <a:buNone/>
                      </a:pPr>
                      <a:r>
                        <a:rPr lang="en-US" sz="1100" dirty="0">
                          <a:solidFill>
                            <a:srgbClr val="14181F"/>
                          </a:solidFill>
                        </a:rPr>
                        <a:t>5  Batch 1 again (older)</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0</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0</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44</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44</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4181F"/>
                          </a:solidFill>
                        </a:rPr>
                        <a:t>18</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4181F"/>
                          </a:solidFill>
                        </a:rPr>
                        <a:t>6  Refresh the page</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44</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c>
                  <a:txBody>
                    <a:bodyPr/>
                    <a:lstStyle/>
                    <a:p>
                      <a:pPr algn="ctr" indent="0" marL="0">
                        <a:buNone/>
                      </a:pPr>
                      <a:r>
                        <a:rPr lang="en-US" sz="1100" dirty="0">
                          <a:solidFill>
                            <a:srgbClr val="14181F"/>
                          </a:solidFill>
                        </a:rPr>
                        <a:t>18</a:t>
                      </a:r>
                      <a:endParaRPr lang="en-US" sz="1100" dirty="0"/>
                    </a:p>
                  </a:txBody>
                  <a:tcPr marL="91440" marR="91440" marT="45720" marB="45720">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solidFill>
                      <a:srgbClr val="F3F5F9"/>
                    </a:solidFill>
                  </a:tcPr>
                </a:tc>
              </a:tr>
            </a:tbl>
          </a:graphicData>
        </a:graphic>
      </p:graphicFrame>
      <p:sp>
        <p:nvSpPr>
          <p:cNvPr id="5" name="Text 2"/>
          <p:cNvSpPr txBox="1"/>
          <p:nvPr/>
        </p:nvSpPr>
        <p:spPr>
          <a:xfrm>
            <a:off x="5806440" y="1051560"/>
            <a:ext cx="2880360" cy="274320"/>
          </a:xfrm>
          <a:prstGeom prst="rect">
            <a:avLst/>
          </a:prstGeom>
          <a:noFill/>
          <a:ln/>
        </p:spPr>
        <p:txBody>
          <a:bodyPr wrap="square" lIns="0" tIns="0" rIns="0" bIns="0" rtlCol="0" anchor="ctr"/>
          <a:lstStyle/>
          <a:p>
            <a:pPr indent="0" marL="0">
              <a:buNone/>
            </a:pPr>
            <a:r>
              <a:rPr lang="en-US" sz="1300" b="1" dirty="0">
                <a:solidFill>
                  <a:srgbClr val="2457D6"/>
                </a:solidFill>
                <a:latin typeface="Calibri" pitchFamily="34" charset="0"/>
                <a:ea typeface="Calibri" pitchFamily="34" charset="-122"/>
                <a:cs typeface="Calibri" pitchFamily="34" charset="-120"/>
              </a:rPr>
              <a:t>What M07 shows</a:t>
            </a:r>
            <a:endParaRPr lang="en-US" sz="1300" dirty="0"/>
          </a:p>
        </p:txBody>
      </p:sp>
      <p:sp>
        <p:nvSpPr>
          <p:cNvPr id="6" name="Text 3"/>
          <p:cNvSpPr txBox="1"/>
          <p:nvPr/>
        </p:nvSpPr>
        <p:spPr>
          <a:xfrm>
            <a:off x="5806440" y="1371600"/>
            <a:ext cx="2880360" cy="2377440"/>
          </a:xfrm>
          <a:prstGeom prst="rect">
            <a:avLst/>
          </a:prstGeom>
          <a:noFill/>
          <a:ln/>
        </p:spPr>
        <p:txBody>
          <a:bodyPr wrap="square" lIns="0" tIns="0" rIns="0" bIns="0" rtlCol="0" anchor="t"/>
          <a:lstStyle/>
          <a:p>
            <a:pPr indent="0" marL="0">
              <a:spcAft>
                <a:spcPts val="600"/>
              </a:spcAft>
              <a:buNone/>
            </a:pPr>
            <a:r>
              <a:rPr lang="en-US" sz="1100" dirty="0">
                <a:solidFill>
                  <a:srgbClr val="14181F"/>
                </a:solidFill>
                <a:latin typeface="Calibri" pitchFamily="34" charset="0"/>
                <a:ea typeface="Calibri" pitchFamily="34" charset="-122"/>
                <a:cs typeface="Calibri" pitchFamily="34" charset="-120"/>
              </a:rPr>
              <a:t>Revision 1 had no transcript. I routed it to Customer follow-up by hand.</a:t>
            </a:r>
            <a:endParaRPr lang="en-US" sz="1100" dirty="0"/>
          </a:p>
          <a:p>
            <a:pPr indent="0" marL="0">
              <a:spcAft>
                <a:spcPts val="600"/>
              </a:spcAft>
              <a:buNone/>
            </a:pPr>
            <a:r>
              <a:rPr lang="en-US" sz="1100" dirty="0">
                <a:solidFill>
                  <a:srgbClr val="14181F"/>
                </a:solidFill>
                <a:latin typeface="Calibri" pitchFamily="34" charset="0"/>
                <a:ea typeface="Calibri" pitchFamily="34" charset="-122"/>
                <a:cs typeface="Calibri" pitchFamily="34" charset="-120"/>
              </a:rPr>
              <a:t>Revision 2 brought 27 turns and replaced the whole record.</a:t>
            </a:r>
            <a:endParaRPr lang="en-US" sz="1100" dirty="0"/>
          </a:p>
          <a:p>
            <a:pPr indent="0" marL="0">
              <a:spcAft>
                <a:spcPts val="600"/>
              </a:spcAft>
              <a:buNone/>
            </a:pPr>
            <a:r>
              <a:rPr lang="en-US" sz="1100" dirty="0">
                <a:solidFill>
                  <a:srgbClr val="14181F"/>
                </a:solidFill>
                <a:latin typeface="Calibri" pitchFamily="34" charset="0"/>
                <a:ea typeface="Calibri" pitchFamily="34" charset="-122"/>
                <a:cs typeface="Calibri" pitchFamily="34" charset="-120"/>
              </a:rPr>
              <a:t>The suggestion changed; my manual route stayed, with a banner offering to keep it or take the new one.</a:t>
            </a:r>
            <a:endParaRPr lang="en-US" sz="1100" dirty="0"/>
          </a:p>
          <a:p>
            <a:pPr indent="0" marL="0">
              <a:spcAft>
                <a:spcPts val="600"/>
              </a:spcAft>
              <a:buNone/>
            </a:pPr>
            <a:r>
              <a:rPr lang="en-US" sz="1100" dirty="0">
                <a:solidFill>
                  <a:srgbClr val="14181F"/>
                </a:solidFill>
                <a:latin typeface="Calibri" pitchFamily="34" charset="0"/>
                <a:ea typeface="Calibri" pitchFamily="34" charset="-122"/>
                <a:cs typeface="Calibri" pitchFamily="34" charset="-120"/>
              </a:rPr>
              <a:t>The other 43 records were unchanged.</a:t>
            </a:r>
            <a:endParaRPr lang="en-US" sz="1100" dirty="0"/>
          </a:p>
        </p:txBody>
      </p:sp>
      <p:sp>
        <p:nvSpPr>
          <p:cNvPr id="7" name="Text 4"/>
          <p:cNvSpPr txBox="1"/>
          <p:nvPr/>
        </p:nvSpPr>
        <p:spPr>
          <a:xfrm>
            <a:off x="457200" y="3840480"/>
            <a:ext cx="8229600" cy="822960"/>
          </a:xfrm>
          <a:prstGeom prst="rect">
            <a:avLst/>
          </a:prstGeom>
          <a:noFill/>
          <a:ln/>
        </p:spPr>
        <p:txBody>
          <a:bodyPr wrap="square" lIns="0" tIns="0" rIns="0" bIns="0" rtlCol="0" anchor="t"/>
          <a:lstStyle/>
          <a:p>
            <a:pPr indent="0" marL="0">
              <a:buNone/>
            </a:pPr>
            <a:r>
              <a:rPr lang="en-US" sz="1100" dirty="0">
                <a:solidFill>
                  <a:srgbClr val="5C6675"/>
                </a:solidFill>
                <a:latin typeface="Calibri" pitchFamily="34" charset="0"/>
                <a:ea typeface="Calibri" pitchFamily="34" charset="-122"/>
                <a:cs typeface="Calibri" pitchFamily="34" charset="-120"/>
              </a:rPr>
              <a:t>Identity is (source type, source id), never the ref, title or position. Export manifest lists applied revision, routes, manual flag and analysis freshness; a changed route moves its file and the old one is listed as superseded.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t"/>
          <a:lstStyle/>
          <a:p>
            <a:pPr indent="0" marL="0">
              <a:buNone/>
            </a:pPr>
            <a:r>
              <a:rPr lang="en-US" sz="2400" b="1" dirty="0">
                <a:solidFill>
                  <a:srgbClr val="14181F"/>
                </a:solidFill>
                <a:latin typeface="Calibri" pitchFamily="34" charset="0"/>
                <a:ea typeface="Calibri" pitchFamily="34" charset="-122"/>
                <a:cs typeface="Calibri" pitchFamily="34" charset="-120"/>
              </a:rPr>
              <a:t>The decision I rejected, and what this does not do</a:t>
            </a:r>
            <a:endParaRPr lang="en-US" sz="2400" dirty="0"/>
          </a:p>
        </p:txBody>
      </p:sp>
      <p:sp>
        <p:nvSpPr>
          <p:cNvPr id="3" name="Text 1"/>
          <p:cNvSpPr txBox="1"/>
          <p:nvPr/>
        </p:nvSpPr>
        <p:spPr>
          <a:xfrm>
            <a:off x="7498080" y="4800600"/>
            <a:ext cx="1188720" cy="228600"/>
          </a:xfrm>
          <a:prstGeom prst="rect">
            <a:avLst/>
          </a:prstGeom>
          <a:noFill/>
          <a:ln/>
        </p:spPr>
        <p:txBody>
          <a:bodyPr wrap="square" lIns="0" tIns="0" rIns="0" bIns="0" rtlCol="0" anchor="ctr"/>
          <a:lstStyle/>
          <a:p>
            <a:pPr algn="r" indent="0" marL="0">
              <a:buNone/>
            </a:pPr>
            <a:r>
              <a:rPr lang="en-US" sz="900" dirty="0">
                <a:solidFill>
                  <a:srgbClr val="5C6675"/>
                </a:solidFill>
                <a:latin typeface="Calibri" pitchFamily="34" charset="0"/>
                <a:ea typeface="Calibri" pitchFamily="34" charset="-122"/>
                <a:cs typeface="Calibri" pitchFamily="34" charset="-120"/>
              </a:rPr>
              <a:t>SalesDesk · 5/5</a:t>
            </a:r>
            <a:endParaRPr lang="en-US" sz="900" dirty="0"/>
          </a:p>
        </p:txBody>
      </p:sp>
      <p:sp>
        <p:nvSpPr>
          <p:cNvPr id="4" name="Shape 2"/>
          <p:cNvSpPr/>
          <p:nvPr/>
        </p:nvSpPr>
        <p:spPr>
          <a:xfrm>
            <a:off x="457200" y="1051560"/>
            <a:ext cx="4023360" cy="3611880"/>
          </a:xfrm>
          <a:prstGeom prst="roundRect">
            <a:avLst>
              <a:gd name="adj" fmla="val 2025"/>
            </a:avLst>
          </a:prstGeom>
          <a:solidFill>
            <a:srgbClr val="F3F5F9"/>
          </a:solidFill>
          <a:ln w="9525">
            <a:solidFill>
              <a:srgbClr val="DFE3EA"/>
            </a:solidFill>
            <a:prstDash val="solid"/>
          </a:ln>
        </p:spPr>
      </p:sp>
      <p:sp>
        <p:nvSpPr>
          <p:cNvPr id="5" name="Text 3"/>
          <p:cNvSpPr txBox="1"/>
          <p:nvPr/>
        </p:nvSpPr>
        <p:spPr>
          <a:xfrm>
            <a:off x="594360" y="1170432"/>
            <a:ext cx="3749040" cy="548640"/>
          </a:xfrm>
          <a:prstGeom prst="rect">
            <a:avLst/>
          </a:prstGeom>
          <a:noFill/>
          <a:ln/>
        </p:spPr>
        <p:txBody>
          <a:bodyPr wrap="square" lIns="0" tIns="0" rIns="0" bIns="0" rtlCol="0" anchor="t"/>
          <a:lstStyle/>
          <a:p>
            <a:pPr indent="0" marL="0">
              <a:buNone/>
            </a:pPr>
            <a:r>
              <a:rPr lang="en-US" sz="1300" b="1" dirty="0">
                <a:solidFill>
                  <a:srgbClr val="D4531F"/>
                </a:solidFill>
                <a:latin typeface="Calibri" pitchFamily="34" charset="0"/>
                <a:ea typeface="Calibri" pitchFamily="34" charset="-122"/>
                <a:cs typeface="Calibri" pitchFamily="34" charset="-120"/>
              </a:rPr>
              <a:t>Rejected: one route field that every import overwrites</a:t>
            </a:r>
            <a:endParaRPr lang="en-US" sz="1300" dirty="0"/>
          </a:p>
        </p:txBody>
      </p:sp>
      <p:sp>
        <p:nvSpPr>
          <p:cNvPr id="6" name="Text 4"/>
          <p:cNvSpPr txBox="1"/>
          <p:nvPr/>
        </p:nvSpPr>
        <p:spPr>
          <a:xfrm>
            <a:off x="594360" y="1783080"/>
            <a:ext cx="3749040" cy="2743200"/>
          </a:xfrm>
          <a:prstGeom prst="rect">
            <a:avLst/>
          </a:prstGeom>
          <a:noFill/>
          <a:ln/>
        </p:spPr>
        <p:txBody>
          <a:bodyPr wrap="square" lIns="0" tIns="0" rIns="0" bIns="0" rtlCol="0" anchor="t"/>
          <a:lstStyle/>
          <a:p>
            <a:pPr indent="0" marL="0">
              <a:buNone/>
            </a:pPr>
            <a:r>
              <a:rPr lang="en-US" sz="1200" dirty="0">
                <a:solidFill>
                  <a:srgbClr val="14181F"/>
                </a:solidFill>
                <a:latin typeface="Calibri" pitchFamily="34" charset="0"/>
                <a:ea typeface="Calibri" pitchFamily="34" charset="-122"/>
                <a:cs typeface="Calibri" pitchFamily="34" charset="-120"/>
              </a:rPr>
              <a:t>It is the simplest design: no override model, no banner, no superseded files.</a:t>
            </a:r>
            <a:endParaRPr lang="en-US" sz="1200" dirty="0"/>
          </a:p>
          <a:p>
            <a:pPr indent="0" marL="0">
              <a:buNone/>
            </a:pPr>
            <a:endParaRPr lang="en-US" sz="1200" dirty="0"/>
          </a:p>
          <a:p>
            <a:pPr indent="0" marL="0">
              <a:buNone/>
            </a:pPr>
            <a:r>
              <a:rPr lang="en-US" sz="1200" dirty="0">
                <a:solidFill>
                  <a:srgbClr val="14181F"/>
                </a:solidFill>
                <a:latin typeface="Calibri" pitchFamily="34" charset="0"/>
                <a:ea typeface="Calibri" pitchFamily="34" charset="-122"/>
                <a:cs typeface="Calibri" pitchFamily="34" charset="-120"/>
              </a:rPr>
              <a:t>But M07 breaks it. The manager's choice made while the transcript was missing would vanish when the update ran, and a re-import of old data could undo any correction.</a:t>
            </a:r>
            <a:endParaRPr lang="en-US" sz="1200" dirty="0"/>
          </a:p>
          <a:p>
            <a:pPr indent="0" marL="0">
              <a:buNone/>
            </a:pPr>
            <a:endParaRPr lang="en-US" sz="1200" dirty="0"/>
          </a:p>
          <a:p>
            <a:pPr indent="0" marL="0">
              <a:buNone/>
            </a:pPr>
            <a:r>
              <a:rPr lang="en-US" sz="1200" dirty="0">
                <a:solidFill>
                  <a:srgbClr val="14181F"/>
                </a:solidFill>
                <a:latin typeface="Calibri" pitchFamily="34" charset="0"/>
                <a:ea typeface="Calibri" pitchFamily="34" charset="-122"/>
                <a:cs typeface="Calibri" pitchFamily="34" charset="-120"/>
              </a:rPr>
              <a:t>Chosen instead: the manual route lives beside the source and the suggestion. Cost: a second field, a banner and extra manifest bookkeeping.</a:t>
            </a:r>
            <a:endParaRPr lang="en-US" sz="1200" dirty="0"/>
          </a:p>
        </p:txBody>
      </p:sp>
      <p:sp>
        <p:nvSpPr>
          <p:cNvPr id="7" name="Shape 5"/>
          <p:cNvSpPr/>
          <p:nvPr/>
        </p:nvSpPr>
        <p:spPr>
          <a:xfrm>
            <a:off x="4663440" y="1051560"/>
            <a:ext cx="4023360" cy="3611880"/>
          </a:xfrm>
          <a:prstGeom prst="roundRect">
            <a:avLst>
              <a:gd name="adj" fmla="val 2025"/>
            </a:avLst>
          </a:prstGeom>
          <a:solidFill>
            <a:srgbClr val="F3F5F9"/>
          </a:solidFill>
          <a:ln w="9525">
            <a:solidFill>
              <a:srgbClr val="DFE3EA"/>
            </a:solidFill>
            <a:prstDash val="solid"/>
          </a:ln>
        </p:spPr>
      </p:sp>
      <p:sp>
        <p:nvSpPr>
          <p:cNvPr id="8" name="Text 6"/>
          <p:cNvSpPr txBox="1"/>
          <p:nvPr/>
        </p:nvSpPr>
        <p:spPr>
          <a:xfrm>
            <a:off x="4800600" y="1170432"/>
            <a:ext cx="3749040" cy="365760"/>
          </a:xfrm>
          <a:prstGeom prst="rect">
            <a:avLst/>
          </a:prstGeom>
          <a:noFill/>
          <a:ln/>
        </p:spPr>
        <p:txBody>
          <a:bodyPr wrap="square" lIns="0" tIns="0" rIns="0" bIns="0" rtlCol="0" anchor="t"/>
          <a:lstStyle/>
          <a:p>
            <a:pPr indent="0" marL="0">
              <a:buNone/>
            </a:pPr>
            <a:r>
              <a:rPr lang="en-US" sz="1300" b="1" dirty="0">
                <a:solidFill>
                  <a:srgbClr val="2457D6"/>
                </a:solidFill>
                <a:latin typeface="Calibri" pitchFamily="34" charset="0"/>
                <a:ea typeface="Calibri" pitchFamily="34" charset="-122"/>
                <a:cs typeface="Calibri" pitchFamily="34" charset="-120"/>
              </a:rPr>
              <a:t>Limits, stated plainly</a:t>
            </a:r>
            <a:endParaRPr lang="en-US" sz="1300" dirty="0"/>
          </a:p>
        </p:txBody>
      </p:sp>
      <p:sp>
        <p:nvSpPr>
          <p:cNvPr id="9" name="Text 7"/>
          <p:cNvSpPr txBox="1"/>
          <p:nvPr/>
        </p:nvSpPr>
        <p:spPr>
          <a:xfrm>
            <a:off x="4800600" y="1554480"/>
            <a:ext cx="374904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4181F"/>
                </a:solidFill>
                <a:latin typeface="Calibri" pitchFamily="34" charset="0"/>
                <a:ea typeface="Calibri" pitchFamily="34" charset="-122"/>
                <a:cs typeface="Calibri" pitchFamily="34" charset="-120"/>
              </a:rPr>
              <a:t>Analysis is keyword rules, not a model. The label check flagged 5 of 10 calls; only C09 was a true mismatch, so 4 were false alarms.</a:t>
            </a:r>
            <a:endParaRPr lang="en-US" sz="1200" dirty="0"/>
          </a:p>
          <a:p>
            <a:pPr marL="342900" indent="-342900">
              <a:spcAft>
                <a:spcPts val="600"/>
              </a:spcAft>
              <a:buSzPct val="100000"/>
              <a:buChar char="•"/>
            </a:pPr>
            <a:r>
              <a:rPr lang="en-US" sz="1200" dirty="0">
                <a:solidFill>
                  <a:srgbClr val="14181F"/>
                </a:solidFill>
                <a:latin typeface="Calibri" pitchFamily="34" charset="0"/>
                <a:ea typeface="Calibri" pitchFamily="34" charset="-122"/>
                <a:cs typeface="Calibri" pitchFamily="34" charset="-120"/>
              </a:rPr>
              <a:t>Call text has no speakers, so call commitments have no owner.</a:t>
            </a:r>
            <a:endParaRPr lang="en-US" sz="1200" dirty="0"/>
          </a:p>
          <a:p>
            <a:pPr marL="342900" indent="-342900">
              <a:spcAft>
                <a:spcPts val="600"/>
              </a:spcAft>
              <a:buSzPct val="100000"/>
              <a:buChar char="•"/>
            </a:pPr>
            <a:r>
              <a:rPr lang="en-US" sz="1200" dirty="0">
                <a:solidFill>
                  <a:srgbClr val="14181F"/>
                </a:solidFill>
                <a:latin typeface="Calibri" pitchFamily="34" charset="0"/>
                <a:ea typeface="Calibri" pitchFamily="34" charset="-122"/>
                <a:cs typeface="Calibri" pitchFamily="34" charset="-120"/>
              </a:rPr>
              <a:t>Priority is a heuristic that orders the queue, not a forecast.</a:t>
            </a:r>
            <a:endParaRPr lang="en-US" sz="1200" dirty="0"/>
          </a:p>
          <a:p>
            <a:pPr marL="342900" indent="-342900">
              <a:spcAft>
                <a:spcPts val="600"/>
              </a:spcAft>
              <a:buSzPct val="100000"/>
              <a:buChar char="•"/>
            </a:pPr>
            <a:r>
              <a:rPr lang="en-US" sz="1200" dirty="0">
                <a:solidFill>
                  <a:srgbClr val="14181F"/>
                </a:solidFill>
                <a:latin typeface="Calibri" pitchFamily="34" charset="0"/>
                <a:ea typeface="Calibri" pitchFamily="34" charset="-122"/>
                <a:cs typeface="Calibri" pitchFamily="34" charset="-120"/>
              </a:rPr>
              <a:t>JSON file store, no login: right for one manager or a demo.</a:t>
            </a:r>
            <a:endParaRPr lang="en-US" sz="1200" dirty="0"/>
          </a:p>
          <a:p>
            <a:pPr marL="342900" indent="-342900">
              <a:spcAft>
                <a:spcPts val="600"/>
              </a:spcAft>
              <a:buSzPct val="100000"/>
              <a:buChar char="•"/>
            </a:pPr>
            <a:r>
              <a:rPr lang="en-US" sz="1200" dirty="0">
                <a:solidFill>
                  <a:srgbClr val="14181F"/>
                </a:solidFill>
                <a:latin typeface="Calibri" pitchFamily="34" charset="0"/>
                <a:ea typeface="Calibri" pitchFamily="34" charset="-122"/>
                <a:cs typeface="Calibri" pitchFamily="34" charset="-120"/>
              </a:rPr>
              <a:t>AI use: I used Claude to build the code and rules; every finding quote is checked by a test.</a:t>
            </a:r>
            <a:endParaRPr lang="en-US" sz="1200" dirty="0"/>
          </a:p>
        </p:txBody>
      </p:sp>
    </p:spTree>
  </p:cSld>
  <p:clrMapOvr>
    <a:masterClrMapping/>
  </p:clrMapOvr>
</p:sld>
</file>

<file path=ppt/theme/theme1.xml><?xml version="1.0" encoding="utf-8"?>
<a:theme xmlns:a="http://schemas.openxmlformats.org/drawingml/2006/main" name="SalesDesk">
  <a:themeElements>
    <a:clrScheme name="SalesDesk">
      <a:dk1>
        <a:srgbClr val="14181F"/>
      </a:dk1>
      <a:lt1>
        <a:srgbClr val="FFFFFF"/>
      </a:lt1>
      <a:dk2>
        <a:srgbClr val="1F2A44"/>
      </a:dk2>
      <a:lt2>
        <a:srgbClr val="F3F5F9"/>
      </a:lt2>
      <a:accent1>
        <a:srgbClr val="2457D6"/>
      </a:accent1>
      <a:accent2>
        <a:srgbClr val="D4531F"/>
      </a:accent2>
      <a:accent3>
        <a:srgbClr val="14784A"/>
      </a:accent3>
      <a:accent4>
        <a:srgbClr val="9A5B00"/>
      </a:accent4>
      <a:accent5>
        <a:srgbClr val="5C6675"/>
      </a:accent5>
      <a:accent6>
        <a:srgbClr val="B3261E"/>
      </a:accent6>
      <a:hlink>
        <a:srgbClr val="2457D6"/>
      </a:hlink>
      <a:folHlink>
        <a:srgbClr val="5C6675"/>
      </a:folHlink>
    </a:clrScheme>
    <a:fontScheme name="SalesDes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2026-10-23T05:31:42Z</dcterms:created>
  <dcterms:modified xsi:type="dcterms:W3CDTF">2026-10-23T05:31:42Z</dcterms:modified>
</cp:coreProperties>
</file>